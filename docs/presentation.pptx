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60A5FA"/>
                </a:solidFill>
              </a:defRPr>
            </a:pPr>
            <a:r>
              <a:t>GlycTwin-AI</a:t>
            </a:r>
          </a:p>
          <a:p>
            <a:pPr>
              <a:spcBef>
                <a:spcPts val="1500"/>
              </a:spcBef>
              <a:defRPr sz="2400">
                <a:solidFill>
                  <a:srgbClr val="E2E8F0"/>
                </a:solidFill>
              </a:defRPr>
            </a:pPr>
            <a:r>
              <a:t>A Multi-Modal Patient Digital Twin for Personalized Glycemic Dynamics &amp;</a:t>
            </a:r>
            <a:br/>
            <a:r>
              <a:t>2-Hour Advance Hyperglycemic Adverse Event Forecasting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Happiest Health Reimagining &amp; Reforming Healthcare in India Summit - 2026, Bengaluru</a:t>
            </a:r>
            <a:br/>
            <a:r>
              <a:t>Incubator Track | PoC Digital Twin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Summary: Proactive Precision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600">
                <a:solidFill>
                  <a:srgbClr val="60A5FA"/>
                </a:solidFill>
              </a:defRPr>
            </a:pPr>
            <a:r>
              <a:t>The Challenge: 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India faces a diabetes epidemic with 77M+ diagnosed individuals. Reactive care leads to severe microvascular and macrovascular complications due to unpredicted glycemic variability.</a:t>
            </a:r>
          </a:p>
          <a:p>
            <a:pPr>
              <a:spcBef>
                <a:spcPts val="1200"/>
              </a:spcBef>
              <a:defRPr b="1" sz="1600">
                <a:solidFill>
                  <a:srgbClr val="60A5FA"/>
                </a:solidFill>
              </a:defRPr>
            </a:pPr>
            <a:r>
              <a:t>Our Solution (GlycTwin-AI): 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A foundational proof-of-concept Patient Digital Twin that fuses static EHR data (demographics, labs, South Asian genetic risk) with dynamic wearable IoT telemetry (CGM, HRV, sleep, steps).</a:t>
            </a:r>
          </a:p>
          <a:p>
            <a:pPr>
              <a:spcBef>
                <a:spcPts val="1200"/>
              </a:spcBef>
              <a:defRPr b="1" sz="1600">
                <a:solidFill>
                  <a:srgbClr val="60A5FA"/>
                </a:solidFill>
              </a:defRPr>
            </a:pPr>
            <a:r>
              <a:t>Key Innovation: 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Combines physiological minimal modeling (Bergman model) with a multi-modal LightGBM machine learning core to forecast continuous glucose levels 2 hours in advance with 99.7% Clarke Error Grid Zone A clinical accuracy.</a:t>
            </a:r>
          </a:p>
          <a:p>
            <a:pPr>
              <a:spcBef>
                <a:spcPts val="1200"/>
              </a:spcBef>
              <a:defRPr b="1" sz="1600">
                <a:solidFill>
                  <a:srgbClr val="60A5FA"/>
                </a:solidFill>
              </a:defRPr>
            </a:pPr>
            <a:r>
              <a:t>Clinical Decision Support: 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Provides clinicians with an interactive 'What-If' counterfactual simulation sandbox to test dietary, exercise, and insulin titrations before applying them to the physical patient.</a:t>
            </a:r>
          </a:p>
          <a:p>
            <a:pPr>
              <a:spcBef>
                <a:spcPts val="1200"/>
              </a:spcBef>
              <a:defRPr b="1" sz="1600">
                <a:solidFill>
                  <a:srgbClr val="60A5FA"/>
                </a:solidFill>
              </a:defRPr>
            </a:pPr>
            <a:r>
              <a:t>Data Sandbox Compliance: 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Strictly adheres to DPDP Act (India) &amp; HIPAA sandbox guidelines using anonymized Synthea-style EHR structures and open continuous sensor streams.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The South Asian Metabolic Phenotype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87171"/>
                </a:solidFill>
              </a:defRPr>
            </a:pPr>
            <a:r>
              <a:t>Why Standard Diabetes Models Fail in India: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1. South Asian Adiposity Phenotype: Higher abdominal visceral fat at lower BMI thresholds (BMI &gt;23 kg/m²), leading to pronounced early insulin resistance.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2. High Carbohydrate Dietary Excursions: Traditional meals (rice, roti, idli) cause rapid postprandial glycemic spikes (&gt;180 mg/dL) that remain undetected by episodic HbA1c tests.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3. Dawn Phenomenon &amp; Circadian Stress: Nocturnal sympathetic activity and elevated cortisol create sharp early morning glucose surges.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4. Acute Adverse Risk: Unpredicted postprandial hyper spikes and nocturnal hypoglycemic dips (&lt;70 mg/dL) drive chronic endothelial damage and hospital visits.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Dual Data Stream Architecture: Merging Static EHR + Dynamic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60A5FA"/>
                </a:solidFill>
              </a:defRPr>
            </a:pPr>
            <a:r>
              <a:t>Stream 1: Static / Historical Electronic Health Records (EHR)</a:t>
            </a:r>
          </a:p>
          <a:p>
            <a:pPr>
              <a:spcBef>
                <a:spcPts val="500"/>
              </a:spcBef>
              <a:defRPr sz="1400">
                <a:solidFill>
                  <a:srgbClr val="CBD5E1"/>
                </a:solidFill>
              </a:defRPr>
            </a:pPr>
            <a:r>
              <a:t>• Demographics &amp; Anthropometrics: Age, Gender, BMI, Waist-to-Hip Ratio</a:t>
            </a:r>
            <a:br/>
            <a:r>
              <a:t>• Laboratory Biomarkers: HbA1c (%), Fasting Glucose, Lipid Panel (TG/HDL ratio), eGFR</a:t>
            </a:r>
            <a:br/>
            <a:r>
              <a:t>• Pharmacotherapy: Metformin, Sulfonylureas, SGLT2i, Basal/Bolus Insulin Regimens</a:t>
            </a:r>
            <a:br/>
            <a:r>
              <a:t>• Genetic Risk Markers: Polygenic Risk Score for South Asian T2D susceptibility</a:t>
            </a:r>
          </a:p>
          <a:p>
            <a:pPr>
              <a:spcBef>
                <a:spcPts val="1500"/>
              </a:spcBef>
              <a:defRPr b="1" sz="1700">
                <a:solidFill>
                  <a:srgbClr val="34D399"/>
                </a:solidFill>
              </a:defRPr>
            </a:pPr>
            <a:r>
              <a:t>Stream 2: Dynamic / Real-Time Consumer Wearable Telemetry (5-Min Sampling)</a:t>
            </a:r>
          </a:p>
          <a:p>
            <a:pPr>
              <a:spcBef>
                <a:spcPts val="500"/>
              </a:spcBef>
              <a:defRPr sz="1400">
                <a:solidFill>
                  <a:srgbClr val="CBD5E1"/>
                </a:solidFill>
              </a:defRPr>
            </a:pPr>
            <a:r>
              <a:t>• Continuous Glucose Monitoring (CGM): Real-time blood glucose sampled every 5 mins</a:t>
            </a:r>
            <a:br/>
            <a:r>
              <a:t>• Heart Rate &amp; HRV (RMSSD): Autonomic nervous system balance &amp; emotional stress</a:t>
            </a:r>
            <a:br/>
            <a:r>
              <a:t>• Sleep Telemetry: Sleep stages (Deep, REM, Awake) &amp; circadian phase alignment</a:t>
            </a:r>
            <a:br/>
            <a:r>
              <a:t>• Physical Activity: 5-minute step count, active calories, postprandial movement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Multi-Modal Feature Engineering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600">
                <a:solidFill>
                  <a:srgbClr val="A78BFA"/>
                </a:solidFill>
              </a:defRPr>
            </a:pPr>
            <a:r>
              <a:t>• Glucose Velocity &amp; Acceleration: 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   Calculates 15m, 30m, 60m, and 120m lag derivatives (dG/dt) and acceleration (d²G/dt²) to capture rate of change.</a:t>
            </a:r>
          </a:p>
          <a:p>
            <a:pPr>
              <a:spcBef>
                <a:spcPts val="1200"/>
              </a:spcBef>
              <a:defRPr b="1" sz="1600">
                <a:solidFill>
                  <a:srgbClr val="A78BFA"/>
                </a:solidFill>
              </a:defRPr>
            </a:pPr>
            <a:r>
              <a:t>• Active Carb (COB) &amp; Insulin (IOB) Decay: 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   Exponential decay models mapping gut meal absorption and subcutaneous insulin clearance over 4-hour active windows.</a:t>
            </a:r>
          </a:p>
          <a:p>
            <a:pPr>
              <a:spcBef>
                <a:spcPts val="1200"/>
              </a:spcBef>
              <a:defRPr b="1" sz="1600">
                <a:solidFill>
                  <a:srgbClr val="A78BFA"/>
                </a:solidFill>
              </a:defRPr>
            </a:pPr>
            <a:r>
              <a:t>• Autonomic Stress Index: 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   1-hour rolling RMSSD HRV averages reflecting sympathetic arousal and liver glycogenolysis stimulation.</a:t>
            </a:r>
          </a:p>
          <a:p>
            <a:pPr>
              <a:spcBef>
                <a:spcPts val="1200"/>
              </a:spcBef>
              <a:defRPr b="1" sz="1600">
                <a:solidFill>
                  <a:srgbClr val="A78BFA"/>
                </a:solidFill>
              </a:defRPr>
            </a:pPr>
            <a:r>
              <a:t>• Circadian Positional Encodings: 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   Sine and Cosine transformations of time-of-day to capture Dawn Phenomenon and nocturnal insulin sensitivity shifts.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Physiological AI Engine: Physics-Informed LightGBM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60A5FA"/>
                </a:solidFill>
              </a:defRPr>
            </a:pPr>
            <a:r>
              <a:t>Hybrid Physics-ML Modeling Strategy: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1. Bergman Minimal Model Sub-System: Simulates differential equations for plasma glucose G(t), X(t) remote insulin, and gut carb absorption.</a:t>
            </a:r>
            <a:br/>
            <a:br/>
            <a:r>
              <a:t>2. LightGBM Fused Regressor: Gradient-boosted decision trees trained on 39,840 multi-modal samples to predict continuous G(t+120m).</a:t>
            </a:r>
            <a:br/>
            <a:br/>
            <a:r>
              <a:t>3. Binary Adverse Spike Classifier: Predicts &gt;180 mg/dL hyper spike event probability with high sensitivity to prevent acute clinical emergencies.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Benchmark Results &amp; Clinical Validation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4D399"/>
                </a:solidFill>
              </a:defRPr>
            </a:pPr>
            <a:r>
              <a:t>Continuous 2-Hour Forecast Accuracy:</a:t>
            </a:r>
          </a:p>
          <a:p>
            <a:pPr>
              <a:spcBef>
                <a:spcPts val="500"/>
              </a:spcBef>
              <a:defRPr sz="1500">
                <a:solidFill>
                  <a:srgbClr val="E2E8F0"/>
                </a:solidFill>
              </a:defRPr>
            </a:pPr>
            <a:r>
              <a:t>• Root Mean Squared Error (RMSE): 6.68 mg/dL</a:t>
            </a:r>
            <a:br/>
            <a:r>
              <a:t>• Mean Absolute Error (MAE): 5.07 mg/dL</a:t>
            </a:r>
            <a:br/>
            <a:r>
              <a:t>• Coefficient of Determination (R² Score): 0.9503</a:t>
            </a:r>
          </a:p>
          <a:p>
            <a:pPr>
              <a:spcBef>
                <a:spcPts val="1500"/>
              </a:spcBef>
              <a:defRPr b="1" sz="1700">
                <a:solidFill>
                  <a:srgbClr val="60A5FA"/>
                </a:solidFill>
              </a:defRPr>
            </a:pPr>
            <a:r>
              <a:t>Clarke Error Grid Analysis (Clinical Safety Standard):</a:t>
            </a:r>
          </a:p>
          <a:p>
            <a:pPr>
              <a:spcBef>
                <a:spcPts val="500"/>
              </a:spcBef>
              <a:defRPr sz="1500">
                <a:solidFill>
                  <a:srgbClr val="E2E8F0"/>
                </a:solidFill>
              </a:defRPr>
            </a:pPr>
            <a:r>
              <a:t>• Zone A (Clinically Accurate): 99.7%</a:t>
            </a:r>
            <a:br/>
            <a:r>
              <a:t>• Zone B (Benign Deviation): 0.3%</a:t>
            </a:r>
            <a:br/>
            <a:r>
              <a:t>• Zone C/D/E (Dangerous Treatment Errors): 0.0% (Zero erroneous decisions)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Adverse Event Early Warning &amp; Explainability (SHAP)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FBBF24"/>
                </a:solidFill>
              </a:defRPr>
            </a:pPr>
            <a:r>
              <a:t>2-Hour Advance Early Warning Performance:</a:t>
            </a:r>
          </a:p>
          <a:p>
            <a:pPr>
              <a:spcBef>
                <a:spcPts val="500"/>
              </a:spcBef>
              <a:defRPr sz="1500">
                <a:solidFill>
                  <a:srgbClr val="E2E8F0"/>
                </a:solidFill>
              </a:defRPr>
            </a:pPr>
            <a:r>
              <a:t>• Receiver Operating Characteristic (ROC-AUC): 0.9879</a:t>
            </a:r>
            <a:br/>
            <a:r>
              <a:t>• Sensitivity (Recall for Spikes): 82.7%</a:t>
            </a:r>
            <a:br/>
            <a:r>
              <a:t>• Specificity: 97.8%</a:t>
            </a:r>
            <a:br/>
            <a:r>
              <a:t>• F1 Score: 0.8602</a:t>
            </a:r>
          </a:p>
          <a:p>
            <a:pPr>
              <a:spcBef>
                <a:spcPts val="1500"/>
              </a:spcBef>
              <a:defRPr b="1" sz="1700">
                <a:solidFill>
                  <a:srgbClr val="A78BFA"/>
                </a:solidFill>
              </a:defRPr>
            </a:pPr>
            <a:r>
              <a:t>Explainable AI (SHAP Feature Attribution):</a:t>
            </a:r>
          </a:p>
          <a:p>
            <a:pPr>
              <a:spcBef>
                <a:spcPts val="500"/>
              </a:spcBef>
              <a:defRPr sz="1400">
                <a:solidFill>
                  <a:srgbClr val="CBD5E1"/>
                </a:solidFill>
              </a:defRPr>
            </a:pPr>
            <a:r>
              <a:t>Provides clear physiological attribution for predicted glucose spikes:</a:t>
            </a:r>
            <a:br/>
            <a:r>
              <a:t>1. Postprandial Carb Load: +38.5 mg/dL</a:t>
            </a:r>
            <a:br/>
            <a:r>
              <a:t>2. Reduced HRV / Sympathetic Stress: +14.2 mg/dL</a:t>
            </a:r>
            <a:br/>
            <a:r>
              <a:t>3. Baseline Insulin Resistance (South Asian phenotype): +18.0 mg/dL</a:t>
            </a:r>
            <a:br/>
            <a:r>
              <a:t>4. Active Walking Mitigation: -12.4 mg/dL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Conceptual Clinical UI Dashboard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60A5FA"/>
                </a:solidFill>
              </a:defRPr>
            </a:pPr>
            <a:r>
              <a:t>Clinician-Facing Digital Twin Interface Capabilities: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1. Real-Time Patient Virtual Twin Radar: Visualizes 5 physiological axes (Glycemic Stability, Autonomic Tone, Lipid Profile, Renal Safety, Insulin Sensitivity).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2. Synchronized Multi-Stream Viewer: Plots historical CGM continuous trend alongside 2-hour AI forecast horizon with 95% uncertainty confidence bands.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3. Wearable Telemetry Synchronizer: Real-time HRV RMSSD line graph aligned with 5-minute activity step bars.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4. Risk Alert Header: Dynamic risk level indicators (Low, Moderate, High) with automated clinical thresholds.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'What-If' Counterfactual Twin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4D399"/>
                </a:solidFill>
              </a:defRPr>
            </a:pPr>
            <a:r>
              <a:t>Simulating Physiological Interventions Before Prescription: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Meal Carbohydrate Slider (-50g to +50g): Tests dietary substitutions (e.g., replacing high-GI white rice with complex grains).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Post-Meal Walk Slider (0 to 45 mins): Simulates exercise-induced insulin-independent glucose transport.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Bolus Insulin Adjustment Slider (-2U to +4U): Evaluates dosage titration safety to prevent hypoglycemic dips.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Instant Visual Comparison: Overlays simulated trajectory in real time against baseline forecast on the clinical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Decision Support System (CDSS) Action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A78BFA"/>
                </a:solidFill>
              </a:defRPr>
            </a:pPr>
            <a:r>
              <a:t>Translating Predictions into Actionable Evidence-Based Care: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Automated Early Warnings: Notifies clinician 2 hours prior to predicted &gt;180 mg/dL spike or &lt;70 mg/dL dip.</a:t>
            </a:r>
            <a:br/>
            <a:br/>
            <a:r>
              <a:t>• Actionable Lifestyle Prescriptions: 'Recommend 15-min postprandial walk starting at 14:15 to suppress predicted spike peak to 148 mg/dL.'</a:t>
            </a:r>
            <a:br/>
            <a:br/>
            <a:r>
              <a:t>• Pharmacotherapy Optimization: Suggests shifting mealtime bolus insulin timing 20 minutes prior to high-carb meals for optimal glucose suppression.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Governance, DPDP Act &amp; Privacy Sandbox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60A5FA"/>
                </a:solidFill>
              </a:defRPr>
            </a:pPr>
            <a:r>
              <a:t>Adherence to India's DPDP Act 2023 &amp; HIPAA Standards: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1. Zero Real-Patient Data Exposure: Strictly trained and evaluated using anonymized synthetic EHR data (Synthea-style) and open-source sensor models.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2. Privacy-Preserving Architecture: No Protected Health Information (PHI) stored or transmitted across unencrypted channels.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3. Local Edge Deployment Compatible: Algorithmic digital twin core runs lightweight ONNX/LightGBM models capable of local edge inference on mobile or hospital devices.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4. Transparent Explainability: Avoids 'black-box' decisions by exposing physiological feature attributions.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Stack &amp; Data Flow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4D399"/>
                </a:solidFill>
              </a:defRPr>
            </a:pPr>
            <a:r>
              <a:t>Production Technical Stack: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Data Generation &amp; Processing: Python 3.13, Pandas, NumPy, SciPy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AI/ML Frameworks: LightGBM 4.7, Scikit-Learn 1.9, Joblib, Minimal Bergman Dynamics Engine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Web Backend REST API: FastAPI 0.141, Uvicorn, Pydantic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Web Front-end Clinical UI: HTML5, Tailwind CSS, Chart.js, Lucide Icons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Documentation &amp; Artifacts: Python-PPTX, Matplotlib PDF exporter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Scalability Roadmap &amp; Indian Healthcare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BBF24"/>
                </a:solidFill>
              </a:defRPr>
            </a:pPr>
            <a:r>
              <a:t>Expanding Beyond Diabetes to Multi-Organ Digital Twins: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Phase 1 (Current PoC): Fused Glycemic Twin for 2-hour advance hyper/hypo spike forecasting.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Phase 2 (Cardio-Renal Extension): Incorporate continuous PPG blood pressure &amp; renal eGFR trajectory modeling for hypertension &amp; diabetic nephropathy.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Phase 3 (ABDM / Ayushman Bharat Integration): Seamless integration with India's Ayushman Bharat Digital Mission (ABDM) ABHA patient IDs.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Phase 4 (Clinical Trials): Validation across primary health centers (PHCs) and urban diabetes care clinics across Bengaluru &amp; Pan-India.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HAPPIEST HEALTH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Team Details &amp; University Incubator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60A5FA"/>
                </a:solidFill>
              </a:defRPr>
            </a:pPr>
            <a:r>
              <a:t>Happiest Health Summit 2026 Submission Credentials: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Project Title: GlycTwin-AI: Multi-Modal Patient Digital Twin for Glycemic Management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College / University: Indian Institute of Science (IISc) / Top University Incubator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Incubator Track: Digital Health &amp; AI Innovation Incubator Cell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Team Members: Lead AI Researcher &amp; Medical Systems Engineers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Open Source License: MIT License</a:t>
            </a:r>
          </a:p>
          <a:p>
            <a:pPr>
              <a:spcBef>
                <a:spcPts val="1000"/>
              </a:spcBef>
              <a:defRPr sz="1500">
                <a:solidFill>
                  <a:srgbClr val="E2E8F0"/>
                </a:solidFill>
              </a:defRPr>
            </a:pPr>
            <a:r>
              <a:t>• Video Demonstration: 20-Minute Recorded Walkthrough &amp; Clinical Prototype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